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12192000"/>
  <p:embeddedFontLs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fQVg2wprVXYsvQBHAiDYp0UWG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Mono-bold.fntdata"/><Relationship Id="rId10" Type="http://schemas.openxmlformats.org/officeDocument/2006/relationships/slide" Target="slides/slide6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9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f4bd47f1b_2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ef4bd47f1b_2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f4bd47f1b_2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f4bd47f1b_2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ef4bd47f1b_2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f4bd47f1b_2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85800" y="1417320"/>
            <a:ext cx="58521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HR Employee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Attrition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13232" y="44622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13232" y="4864608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Data preparation, EDA, feature engineering, and model-ready dataset.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_stage1/title_chart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9459" y="1417320"/>
            <a:ext cx="2674803" cy="3246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"/>
          <p:cNvCxnSpPr/>
          <p:nvPr/>
        </p:nvCxnSpPr>
        <p:spPr>
          <a:xfrm>
            <a:off x="685800" y="5897880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F31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685800" y="61081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Final Project Report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326880" y="610819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Presented by PBHI Solutions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renders/page-02.png"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514600" y="8229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Table Of Content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85800" y="1865376"/>
            <a:ext cx="438912" cy="438912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85800" y="196138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234440" y="1892808"/>
            <a:ext cx="5532120" cy="384048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389888" y="1988820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Final Dataset &amp; Data Quality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85800" y="2487168"/>
            <a:ext cx="438912" cy="438912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85800" y="2583180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234440" y="2514600"/>
            <a:ext cx="5532120" cy="384048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389888" y="2610612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85800" y="3108960"/>
            <a:ext cx="438912" cy="438912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85800" y="32049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234440" y="3136392"/>
            <a:ext cx="5532120" cy="384048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389888" y="3232404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Top 5 Potential Key Drivers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85800" y="3730752"/>
            <a:ext cx="438912" cy="438912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85800" y="38267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234440" y="3758184"/>
            <a:ext cx="5532120" cy="384048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389888" y="3854196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</a:rPr>
              <a:t>Feature Selection &amp; Engineering</a:t>
            </a:r>
            <a:endParaRPr b="1" sz="1350">
              <a:solidFill>
                <a:srgbClr val="2F3131"/>
              </a:solidFill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85800" y="4352544"/>
            <a:ext cx="438912" cy="438912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85800" y="444855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234440" y="4379976"/>
            <a:ext cx="5532120" cy="384048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389888" y="447598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</a:rPr>
              <a:t>Data Transformation &amp; Final Output</a:t>
            </a:r>
            <a:endParaRPr b="1" sz="1350">
              <a:solidFill>
                <a:srgbClr val="2F3131"/>
              </a:solidFill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389888" y="5097780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_stage1/toc_people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7185" y="2103013"/>
            <a:ext cx="3852766" cy="2368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Progress Overview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Focus: turn raw HR data into a model-ready dataset for Stage 2 modeling.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94360" y="1965960"/>
            <a:ext cx="1874520" cy="242316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40664" y="2148840"/>
            <a:ext cx="1581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58952" y="277063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Data Quality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77240" y="324612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Missing, duplicate, constant columns, and outlier checks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907792" y="1965960"/>
            <a:ext cx="1874520" cy="242316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054096" y="2148840"/>
            <a:ext cx="1581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072384" y="277063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090672" y="324612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Target distribution, univariate, </a:t>
            </a:r>
            <a:r>
              <a:rPr lang="en-US" sz="1030">
                <a:solidFill>
                  <a:srgbClr val="66737A"/>
                </a:solidFill>
              </a:rPr>
              <a:t>multivariat</a:t>
            </a: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030">
                <a:solidFill>
                  <a:srgbClr val="66737A"/>
                </a:solidFill>
              </a:rPr>
              <a:t>features</a:t>
            </a: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 pattern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221224" y="1965960"/>
            <a:ext cx="1874520" cy="242316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367528" y="2148840"/>
            <a:ext cx="1581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385816" y="277063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Key Drivers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04104" y="324612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Top 5 potential drivers based on EDA evidence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534656" y="1965960"/>
            <a:ext cx="1874520" cy="242316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680960" y="2148840"/>
            <a:ext cx="1581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699248" y="277063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Feature Prep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717536" y="324612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Selection, engineered features, and transformation pipeline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848088" y="1965960"/>
            <a:ext cx="1874520" cy="242316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994392" y="2148840"/>
            <a:ext cx="1581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012680" y="277063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Final Output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30968" y="324612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Train/test model-ready matrix with 54 features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1508760" y="5074920"/>
            <a:ext cx="9235440" cy="0"/>
          </a:xfrm>
          <a:prstGeom prst="straightConnector1">
            <a:avLst/>
          </a:prstGeom>
          <a:noFill/>
          <a:ln cap="flat" cmpd="sng" w="27925">
            <a:solidFill>
              <a:srgbClr val="75A9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4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58368" y="1508760"/>
            <a:ext cx="6492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58368" y="3335918"/>
            <a:ext cx="4846200" cy="384000"/>
          </a:xfrm>
          <a:prstGeom prst="rect">
            <a:avLst/>
          </a:prstGeom>
          <a:solidFill>
            <a:srgbClr val="75A9C1">
              <a:alpha val="0"/>
            </a:srgbClr>
          </a:solidFill>
          <a:ln cap="flat" cmpd="sng" w="1905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04672" y="340907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387"/>
              <a:buFont typeface="Arial"/>
              <a:buNone/>
            </a:pPr>
            <a:r>
              <a:rPr lang="en-US" sz="1388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Dataset Readiness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58368" y="5897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Dataset Readiness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The dataset is suitable for a binary attrition prediction task, with imbalanced target distribution.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dataset_overview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156336"/>
            <a:ext cx="6583680" cy="2636768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09" name="Google Shape;109;p6"/>
          <p:cNvSpPr/>
          <p:nvPr/>
        </p:nvSpPr>
        <p:spPr>
          <a:xfrm>
            <a:off x="7726675" y="1481325"/>
            <a:ext cx="3840600" cy="4023300"/>
          </a:xfrm>
          <a:prstGeom prst="roundRect">
            <a:avLst>
              <a:gd fmla="val 3038" name="adj"/>
            </a:avLst>
          </a:prstGeom>
          <a:solidFill>
            <a:srgbClr val="F7FAFB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065008" y="1874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r>
              <a:rPr b="1" lang="en-US" sz="2000">
                <a:solidFill>
                  <a:srgbClr val="0C164A"/>
                </a:solidFill>
              </a:rPr>
              <a:t>M</a:t>
            </a:r>
            <a:r>
              <a:rPr b="1" lang="en-US" sz="20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essage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708350" y="2331725"/>
            <a:ext cx="3502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20"/>
              <a:buFont typeface="Arial"/>
              <a:buChar char="●"/>
            </a:pPr>
            <a:r>
              <a:rPr lang="en-US" sz="12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Rows represent employees, not transactions.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20"/>
              <a:buFont typeface="Arial"/>
              <a:buChar char="●"/>
            </a:pPr>
            <a:r>
              <a:rPr lang="en-US" sz="12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Target is binary: Attrition Yes/No.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20"/>
              <a:buFont typeface="Arial"/>
              <a:buChar char="●"/>
            </a:pPr>
            <a:r>
              <a:rPr lang="en-US" sz="12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Class imbalance exists: Yes only 16.12%.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20"/>
              <a:buFont typeface="Arial"/>
              <a:buChar char="●"/>
            </a:pPr>
            <a:r>
              <a:rPr lang="en-US" sz="12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output must preserve target ratio for modeling.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110733" y="4297620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Why this matters?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064996" y="4728716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66737A"/>
                </a:solidFill>
              </a:rPr>
              <a:t>Recall and F1 will matter later because missing attrition cases is costly for HR.</a:t>
            </a:r>
            <a:endParaRPr b="1" sz="1150">
              <a:solidFill>
                <a:schemeClr val="dk1"/>
              </a:solidFill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Data Quality Check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6"/>
                </a:solidFill>
                <a:latin typeface="Arial"/>
                <a:ea typeface="Arial"/>
                <a:cs typeface="Arial"/>
                <a:sym typeface="Arial"/>
              </a:rPr>
              <a:t>Key cleaning decisions before EDA and modeling.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quality_check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675" y="1325875"/>
            <a:ext cx="10147626" cy="4251976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25" name="Google Shape;125;p7"/>
          <p:cNvSpPr/>
          <p:nvPr/>
        </p:nvSpPr>
        <p:spPr>
          <a:xfrm>
            <a:off x="1097280" y="5806440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Cleaning decision: keep valid outliers, drop non-informative columns, and make the preprocessing pipeline robust for future data.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Python summary table used to understand numeric feature patterns.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descriptive_stats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913401"/>
            <a:ext cx="7726680" cy="3140927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37" name="Google Shape;137;p8"/>
          <p:cNvSpPr/>
          <p:nvPr/>
        </p:nvSpPr>
        <p:spPr>
          <a:xfrm>
            <a:off x="8549575" y="1876013"/>
            <a:ext cx="3108900" cy="32157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915400" y="2219485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EDA </a:t>
            </a:r>
            <a:r>
              <a:rPr b="1" lang="en-US" sz="2000">
                <a:solidFill>
                  <a:srgbClr val="0C164A"/>
                </a:solidFill>
              </a:rPr>
              <a:t>N</a:t>
            </a:r>
            <a:r>
              <a:rPr b="1" lang="en-US" sz="20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otes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549548" y="2514663"/>
            <a:ext cx="29262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30226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Char char="●"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Income and tenure features are right-skewed.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Char char="●"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Attrition employees tend to be younger.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Char char="●"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Lower tenure and lower income appear in attrition group.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Char char="●"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Some numeric variables need scaling before modeling.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Target Analysis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The target class is imbalanced, so Stage 2 should focus beyond accuracy.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target_donut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150" y="1417320"/>
            <a:ext cx="4230219" cy="443484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pic>
        <p:nvPicPr>
          <p:cNvPr descr="/mnt/data/stage1_final_assets/target_summary.png"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809742"/>
            <a:ext cx="5212080" cy="2141235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52" name="Google Shape;152;p9"/>
          <p:cNvSpPr/>
          <p:nvPr/>
        </p:nvSpPr>
        <p:spPr>
          <a:xfrm>
            <a:off x="5714950" y="4572000"/>
            <a:ext cx="5212200" cy="731400"/>
          </a:xfrm>
          <a:prstGeom prst="roundRect">
            <a:avLst>
              <a:gd fmla="val 17500" name="adj"/>
            </a:avLst>
          </a:prstGeom>
          <a:solidFill>
            <a:srgbClr val="EAF3F6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217926" y="4727450"/>
            <a:ext cx="45066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Attrition = Yes is only 16.12% of the data</a:t>
            </a:r>
            <a:r>
              <a:rPr b="1" lang="en-US" sz="1250">
                <a:solidFill>
                  <a:srgbClr val="2F3131"/>
                </a:solidFill>
              </a:rPr>
              <a:t> (Imbalance).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58368" y="1508760"/>
            <a:ext cx="6492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Exploratory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58368" y="3341780"/>
            <a:ext cx="4846320" cy="384048"/>
          </a:xfrm>
          <a:prstGeom prst="rect">
            <a:avLst/>
          </a:prstGeom>
          <a:solidFill>
            <a:srgbClr val="75A9C1">
              <a:alpha val="0"/>
            </a:srgbClr>
          </a:solidFill>
          <a:ln cap="flat" cmpd="sng" w="1905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804672" y="341493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387"/>
              <a:buFont typeface="Arial"/>
              <a:buNone/>
            </a:pPr>
            <a:r>
              <a:rPr lang="en-US" sz="1388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Univariate, </a:t>
            </a:r>
            <a:r>
              <a:rPr lang="en-US" sz="1388">
                <a:solidFill>
                  <a:srgbClr val="F1F0E7"/>
                </a:solidFill>
              </a:rPr>
              <a:t>Multivariat,</a:t>
            </a:r>
            <a:r>
              <a:rPr lang="en-US" sz="1388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1388">
                <a:solidFill>
                  <a:srgbClr val="F1F0E7"/>
                </a:solidFill>
              </a:rPr>
              <a:t>Find Top 5 Keys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58368" y="5897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Univariate Analysis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numeric_distribution_overview.png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71016"/>
            <a:ext cx="7729025" cy="4882896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77" name="Google Shape;177;p11"/>
          <p:cNvSpPr/>
          <p:nvPr/>
        </p:nvSpPr>
        <p:spPr>
          <a:xfrm>
            <a:off x="8823950" y="1417324"/>
            <a:ext cx="2606100" cy="33375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9144000" y="17373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823825" y="2240275"/>
            <a:ext cx="26061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30035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30"/>
              <a:buFont typeface="Arial"/>
              <a:buChar char="●"/>
            </a:pPr>
            <a:r>
              <a:rPr lang="en-US" sz="113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Several features are positively skewed.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35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30"/>
              <a:buFont typeface="Arial"/>
              <a:buChar char="●"/>
            </a:pPr>
            <a:r>
              <a:rPr lang="en-US" sz="113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Income and tenure variables have wide ranges.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35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30"/>
              <a:buFont typeface="Arial"/>
              <a:buChar char="●"/>
            </a:pPr>
            <a:r>
              <a:rPr lang="en-US" sz="113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Scaling is needed before modeling.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35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30"/>
              <a:buFont typeface="Arial"/>
              <a:buChar char="●"/>
            </a:pPr>
            <a:r>
              <a:rPr lang="en-US" sz="113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Outliers appear valid in HR context.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Outlier Analysis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Boxplots are used to identify extreme values in numeric HR features.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outlier_boxplots.png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3739" y="1353312"/>
            <a:ext cx="8209475" cy="448056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191" name="Google Shape;191;p12"/>
          <p:cNvSpPr/>
          <p:nvPr/>
        </p:nvSpPr>
        <p:spPr>
          <a:xfrm>
            <a:off x="960120" y="598932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Decision: outliers are retained because values such as high tenure, high income, and long promotion gaps can be real HR patterns.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E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Multivariate Analysis — Correlation Heatmap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378"/>
                </a:solidFill>
                <a:latin typeface="Arial"/>
                <a:ea typeface="Arial"/>
                <a:cs typeface="Arial"/>
                <a:sym typeface="Arial"/>
              </a:rPr>
              <a:t>Python heatmap enlarged to show multicollinearity and feature redundancy before modeling.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2131225" y="1143000"/>
            <a:ext cx="7989000" cy="525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_cell71_out0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900" y="1206687"/>
            <a:ext cx="6770849" cy="484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2926080" y="6089904"/>
            <a:ext cx="6309360" cy="320040"/>
          </a:xfrm>
          <a:prstGeom prst="round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C8DE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063240" y="6144768"/>
            <a:ext cx="603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1248"/>
                </a:solidFill>
                <a:latin typeface="Arial"/>
                <a:ea typeface="Arial"/>
                <a:cs typeface="Arial"/>
                <a:sym typeface="Arial"/>
              </a:rPr>
              <a:t>Key risk: highly correlated variables may duplicate information and reduce model.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02920" y="6510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561320" y="65105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E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Correlation With Attrition Flag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378"/>
                </a:solidFill>
                <a:latin typeface="Arial"/>
                <a:ea typeface="Arial"/>
                <a:cs typeface="Arial"/>
                <a:sym typeface="Arial"/>
              </a:rPr>
              <a:t>Target correlation provides early direction, while the notes identify multicollinearity risks.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94360" y="1143000"/>
            <a:ext cx="4800600" cy="5321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252728"/>
            <a:ext cx="3886200" cy="51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5577875" y="2476500"/>
            <a:ext cx="5989200" cy="202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The correlation heatmap shows that the linear relationship between attrition and all numerical/ordinal features is weak, as all correlation values are below ±0.20. Therefore, no single feature has a strong linear correlation with attrition.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897880" y="4782312"/>
            <a:ext cx="14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897880" y="5074920"/>
            <a:ext cx="534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02920" y="6510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561320" y="65105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</a:rPr>
              <a:t>Features and Target Analysis</a:t>
            </a:r>
            <a:endParaRPr b="1" sz="3200">
              <a:solidFill>
                <a:srgbClr val="F1F0E7"/>
              </a:solidFill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6"/>
                </a:solidFill>
                <a:latin typeface="Arial"/>
                <a:ea typeface="Arial"/>
                <a:cs typeface="Arial"/>
                <a:sym typeface="Arial"/>
              </a:rPr>
              <a:t>Python bar charts show attrition-rate differences by categorical segment.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bivariate_categorical_collage.png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94448"/>
            <a:ext cx="8321040" cy="4680585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230" name="Google Shape;230;p13"/>
          <p:cNvSpPr/>
          <p:nvPr/>
        </p:nvSpPr>
        <p:spPr>
          <a:xfrm>
            <a:off x="9144000" y="1325875"/>
            <a:ext cx="2714700" cy="3324900"/>
          </a:xfrm>
          <a:prstGeom prst="roundRect">
            <a:avLst>
              <a:gd fmla="val 4364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9464040" y="16916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850"/>
              <a:buFont typeface="Arial"/>
              <a:buNone/>
            </a:pPr>
            <a:r>
              <a:rPr b="1" lang="en-US" sz="18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Key signals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144000" y="2212850"/>
            <a:ext cx="2514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OverTime = Yes shows a clear risk gap.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Sales-related roles need attention but segment size matters.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Business travel and department show useful contextual patterns.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9464040" y="4800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</a:rPr>
              <a:t>Features and Target Analysis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Low satisfaction, low involvement, and low stock option levels show higher attrition.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bivariate_ordinal_collage.png" id="244" name="Google Shape;2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1" y="1325874"/>
            <a:ext cx="7894800" cy="444080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245" name="Google Shape;245;p14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801250" y="1883825"/>
            <a:ext cx="3000000" cy="3324900"/>
          </a:xfrm>
          <a:prstGeom prst="roundRect">
            <a:avLst>
              <a:gd fmla="val 4364" name="adj"/>
            </a:avLst>
          </a:prstGeom>
          <a:solidFill>
            <a:schemeClr val="lt1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8801250" y="2726113"/>
            <a:ext cx="30000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Char char="●"/>
            </a:pPr>
            <a:r>
              <a:rPr lang="en-US" sz="1100">
                <a:solidFill>
                  <a:schemeClr val="dk1"/>
                </a:solidFill>
              </a:rPr>
              <a:t>Low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JobInvolvement</a:t>
            </a:r>
            <a:r>
              <a:rPr lang="en-US" sz="1100">
                <a:solidFill>
                  <a:schemeClr val="dk1"/>
                </a:solidFill>
              </a:rPr>
              <a:t> and low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WorkLifeBalance</a:t>
            </a:r>
            <a:r>
              <a:rPr lang="en-US" sz="1100">
                <a:solidFill>
                  <a:schemeClr val="dk1"/>
                </a:solidFill>
              </a:rPr>
              <a:t> show clear attrition risk patterns.</a:t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JobLevel = 1</a:t>
            </a:r>
            <a:r>
              <a:rPr lang="en-US" sz="1100">
                <a:solidFill>
                  <a:schemeClr val="dk1"/>
                </a:solidFill>
              </a:rPr>
              <a:t> stands out as a high-risk segment.</a:t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StockOptionLevel = 0</a:t>
            </a:r>
            <a:r>
              <a:rPr lang="en-US" sz="1100">
                <a:solidFill>
                  <a:schemeClr val="dk1"/>
                </a:solidFill>
              </a:rPr>
              <a:t> has the highest attrition rate among stock option groups.</a:t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20"/>
              <a:buChar char="●"/>
            </a:pPr>
            <a:r>
              <a:rPr lang="en-US" sz="1100">
                <a:solidFill>
                  <a:schemeClr val="dk1"/>
                </a:solidFill>
              </a:rPr>
              <a:t>Ordinal features suggest that lower engagement, lower benefits, and lower job level are associated with higher attrition risk.</a:t>
            </a:r>
            <a:endParaRPr sz="1120">
              <a:solidFill>
                <a:srgbClr val="2F3131"/>
              </a:solidFill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8870175" y="2035975"/>
            <a:ext cx="3000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C164A"/>
                </a:solidFill>
              </a:rPr>
              <a:t>Key signals</a:t>
            </a:r>
            <a:endParaRPr sz="18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</a:rPr>
              <a:t>Features and Target Analysis</a:t>
            </a:r>
            <a:endParaRPr b="1" sz="3200">
              <a:solidFill>
                <a:srgbClr val="2F3131"/>
              </a:solidFill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Boxplots compare attrition and non-attrition groups across numeric features.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numerical_boxplots_collage.png" id="258" name="Google Shape;2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76185"/>
            <a:ext cx="7772400" cy="4371975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259" name="Google Shape;259;p15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8801250" y="1883825"/>
            <a:ext cx="3000000" cy="3324900"/>
          </a:xfrm>
          <a:prstGeom prst="roundRect">
            <a:avLst>
              <a:gd fmla="val 4364" name="adj"/>
            </a:avLst>
          </a:prstGeom>
          <a:solidFill>
            <a:schemeClr val="lt1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8801250" y="2238375"/>
            <a:ext cx="3000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C164A"/>
                </a:solidFill>
              </a:rPr>
              <a:t>Key signals</a:t>
            </a:r>
            <a:endParaRPr sz="1850">
              <a:solidFill>
                <a:schemeClr val="dk1"/>
              </a:solidFill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8754600" y="2893225"/>
            <a:ext cx="30933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Younger employees show higher attrition tendency.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Lower monthly income is linked to higher attrition risk.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Employees with shorter work experience are more likely to leave.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Shorter company tenure indicates weaker retention.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f4bd47f1b_2_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f4bd47f1b_2_17"/>
          <p:cNvSpPr/>
          <p:nvPr/>
        </p:nvSpPr>
        <p:spPr>
          <a:xfrm>
            <a:off x="594360" y="384048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1F0E7"/>
                </a:solidFill>
              </a:rPr>
              <a:t>Top 5 Potential Key Drivers</a:t>
            </a:r>
            <a:endParaRPr b="1" sz="3200">
              <a:solidFill>
                <a:srgbClr val="2F3131"/>
              </a:solidFill>
            </a:endParaRPr>
          </a:p>
        </p:txBody>
      </p:sp>
      <p:sp>
        <p:nvSpPr>
          <p:cNvPr id="271" name="Google Shape;271;g3ef4bd47f1b_2_17"/>
          <p:cNvSpPr/>
          <p:nvPr/>
        </p:nvSpPr>
        <p:spPr>
          <a:xfrm>
            <a:off x="621792" y="950976"/>
            <a:ext cx="1088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AF3F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6"/>
                </a:solidFill>
              </a:rPr>
              <a:t>Based on EDA findings before model training and SHAP validation.</a:t>
            </a:r>
            <a:endParaRPr sz="1350">
              <a:solidFill>
                <a:srgbClr val="66737A"/>
              </a:solidFill>
            </a:endParaRPr>
          </a:p>
        </p:txBody>
      </p:sp>
      <p:sp>
        <p:nvSpPr>
          <p:cNvPr id="272" name="Google Shape;272;g3ef4bd47f1b_2_17"/>
          <p:cNvSpPr/>
          <p:nvPr/>
        </p:nvSpPr>
        <p:spPr>
          <a:xfrm>
            <a:off x="594360" y="1965960"/>
            <a:ext cx="1874400" cy="24231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f4bd47f1b_2_17"/>
          <p:cNvSpPr/>
          <p:nvPr/>
        </p:nvSpPr>
        <p:spPr>
          <a:xfrm>
            <a:off x="740564" y="2148840"/>
            <a:ext cx="158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600">
              <a:solidFill>
                <a:srgbClr val="75A9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f4bd47f1b_2_17"/>
          <p:cNvSpPr/>
          <p:nvPr/>
        </p:nvSpPr>
        <p:spPr>
          <a:xfrm>
            <a:off x="749577" y="2825495"/>
            <a:ext cx="155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>
                <a:solidFill>
                  <a:srgbClr val="2F3131"/>
                </a:solidFill>
              </a:rPr>
              <a:t>OverTime = Yes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f4bd47f1b_2_17"/>
          <p:cNvSpPr/>
          <p:nvPr/>
        </p:nvSpPr>
        <p:spPr>
          <a:xfrm>
            <a:off x="685851" y="3429038"/>
            <a:ext cx="1691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Attrition rate karyawan overtime mencapai </a:t>
            </a:r>
            <a:r>
              <a:rPr b="1" lang="en-US" sz="900">
                <a:solidFill>
                  <a:schemeClr val="dk1"/>
                </a:solidFill>
              </a:rPr>
              <a:t>30.53%</a:t>
            </a:r>
            <a:r>
              <a:rPr lang="en-US" sz="900">
                <a:solidFill>
                  <a:schemeClr val="dk1"/>
                </a:solidFill>
              </a:rPr>
              <a:t>, jauh lebih tinggi dibanding non-overtime </a:t>
            </a:r>
            <a:r>
              <a:rPr b="1" lang="en-US" sz="900">
                <a:solidFill>
                  <a:schemeClr val="dk1"/>
                </a:solidFill>
              </a:rPr>
              <a:t>10.44%</a:t>
            </a:r>
            <a:r>
              <a:rPr lang="en-US" sz="900">
                <a:solidFill>
                  <a:schemeClr val="dk1"/>
                </a:solidFill>
              </a:rPr>
              <a:t>. Segment ini juga menyumbang </a:t>
            </a:r>
            <a:r>
              <a:rPr b="1" lang="en-US" sz="900">
                <a:solidFill>
                  <a:schemeClr val="dk1"/>
                </a:solidFill>
              </a:rPr>
              <a:t>127 kasus attrition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f4bd47f1b_2_17"/>
          <p:cNvSpPr/>
          <p:nvPr/>
        </p:nvSpPr>
        <p:spPr>
          <a:xfrm>
            <a:off x="2907792" y="1965960"/>
            <a:ext cx="1874400" cy="24231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f4bd47f1b_2_17"/>
          <p:cNvSpPr/>
          <p:nvPr/>
        </p:nvSpPr>
        <p:spPr>
          <a:xfrm>
            <a:off x="3054096" y="2148840"/>
            <a:ext cx="158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f4bd47f1b_2_17"/>
          <p:cNvSpPr/>
          <p:nvPr/>
        </p:nvSpPr>
        <p:spPr>
          <a:xfrm>
            <a:off x="3072384" y="2770632"/>
            <a:ext cx="155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>
                <a:solidFill>
                  <a:srgbClr val="2F3131"/>
                </a:solidFill>
              </a:rPr>
              <a:t>JobLevel = 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f4bd47f1b_2_17"/>
          <p:cNvSpPr/>
          <p:nvPr/>
        </p:nvSpPr>
        <p:spPr>
          <a:xfrm>
            <a:off x="2999275" y="3429038"/>
            <a:ext cx="1691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Karyawan level 1 memiliki attrition rate </a:t>
            </a:r>
            <a:r>
              <a:rPr b="1" lang="en-US" sz="900">
                <a:solidFill>
                  <a:schemeClr val="dk1"/>
                </a:solidFill>
              </a:rPr>
              <a:t>26.34%</a:t>
            </a:r>
            <a:r>
              <a:rPr lang="en-US" sz="900">
                <a:solidFill>
                  <a:schemeClr val="dk1"/>
                </a:solidFill>
              </a:rPr>
              <a:t> dengan </a:t>
            </a:r>
            <a:r>
              <a:rPr b="1" lang="en-US" sz="900">
                <a:solidFill>
                  <a:schemeClr val="dk1"/>
                </a:solidFill>
              </a:rPr>
              <a:t>143 kasus attrition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80" name="Google Shape;280;g3ef4bd47f1b_2_17"/>
          <p:cNvSpPr/>
          <p:nvPr/>
        </p:nvSpPr>
        <p:spPr>
          <a:xfrm>
            <a:off x="5221224" y="1965960"/>
            <a:ext cx="1874400" cy="24231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f4bd47f1b_2_17"/>
          <p:cNvSpPr/>
          <p:nvPr/>
        </p:nvSpPr>
        <p:spPr>
          <a:xfrm>
            <a:off x="5367528" y="2148840"/>
            <a:ext cx="158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f4bd47f1b_2_17"/>
          <p:cNvSpPr/>
          <p:nvPr/>
        </p:nvSpPr>
        <p:spPr>
          <a:xfrm>
            <a:off x="5249025" y="2770625"/>
            <a:ext cx="184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>
                <a:solidFill>
                  <a:srgbClr val="2F3131"/>
                </a:solidFill>
              </a:rPr>
              <a:t>StockOptionLevel = 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f4bd47f1b_2_17"/>
          <p:cNvSpPr/>
          <p:nvPr/>
        </p:nvSpPr>
        <p:spPr>
          <a:xfrm>
            <a:off x="5404079" y="3429032"/>
            <a:ext cx="1508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Karyawan tanpa stock option memiliki attrition rate </a:t>
            </a:r>
            <a:r>
              <a:rPr b="1" lang="en-US" sz="900">
                <a:solidFill>
                  <a:schemeClr val="dk1"/>
                </a:solidFill>
              </a:rPr>
              <a:t>24.41%</a:t>
            </a:r>
            <a:r>
              <a:rPr lang="en-US" sz="900">
                <a:solidFill>
                  <a:schemeClr val="dk1"/>
                </a:solidFill>
              </a:rPr>
              <a:t> dan menyumbang </a:t>
            </a:r>
            <a:r>
              <a:rPr b="1" lang="en-US" sz="900">
                <a:solidFill>
                  <a:schemeClr val="dk1"/>
                </a:solidFill>
              </a:rPr>
              <a:t>154 kasus attrition</a:t>
            </a:r>
            <a:r>
              <a:rPr lang="en-US" sz="900">
                <a:solidFill>
                  <a:schemeClr val="dk1"/>
                </a:solidFill>
              </a:rPr>
              <a:t>, jumlah tertinggi di antara segment yang dianalisis.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f4bd47f1b_2_17"/>
          <p:cNvSpPr/>
          <p:nvPr/>
        </p:nvSpPr>
        <p:spPr>
          <a:xfrm>
            <a:off x="7534656" y="1965960"/>
            <a:ext cx="1874400" cy="24231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f4bd47f1b_2_17"/>
          <p:cNvSpPr/>
          <p:nvPr/>
        </p:nvSpPr>
        <p:spPr>
          <a:xfrm>
            <a:off x="7680960" y="2148840"/>
            <a:ext cx="158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ef4bd47f1b_2_17"/>
          <p:cNvSpPr/>
          <p:nvPr/>
        </p:nvSpPr>
        <p:spPr>
          <a:xfrm>
            <a:off x="7699248" y="2770632"/>
            <a:ext cx="155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>
                <a:solidFill>
                  <a:srgbClr val="2F3131"/>
                </a:solidFill>
              </a:rPr>
              <a:t>MonthlyIncome rendah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f4bd47f1b_2_17"/>
          <p:cNvSpPr/>
          <p:nvPr/>
        </p:nvSpPr>
        <p:spPr>
          <a:xfrm>
            <a:off x="7717536" y="3611757"/>
            <a:ext cx="1508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Karyawan resign memiliki median MonthlyIncome </a:t>
            </a:r>
            <a:r>
              <a:rPr b="1" lang="en-US" sz="900">
                <a:solidFill>
                  <a:schemeClr val="dk1"/>
                </a:solidFill>
              </a:rPr>
              <a:t>3,202</a:t>
            </a:r>
            <a:r>
              <a:rPr lang="en-US" sz="900">
                <a:solidFill>
                  <a:schemeClr val="dk1"/>
                </a:solidFill>
              </a:rPr>
              <a:t>, lebih rendah dibanding karyawan yang bertahan </a:t>
            </a:r>
            <a:r>
              <a:rPr b="1" lang="en-US" sz="900">
                <a:solidFill>
                  <a:schemeClr val="dk1"/>
                </a:solidFill>
              </a:rPr>
              <a:t>5,204</a:t>
            </a:r>
            <a:r>
              <a:rPr lang="en-US" sz="900">
                <a:solidFill>
                  <a:schemeClr val="dk1"/>
                </a:solidFill>
              </a:rPr>
              <a:t>. 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t/>
            </a:r>
            <a:endParaRPr sz="900">
              <a:solidFill>
                <a:srgbClr val="66737A"/>
              </a:solidFill>
            </a:endParaRPr>
          </a:p>
        </p:txBody>
      </p:sp>
      <p:sp>
        <p:nvSpPr>
          <p:cNvPr id="288" name="Google Shape;288;g3ef4bd47f1b_2_17"/>
          <p:cNvSpPr/>
          <p:nvPr/>
        </p:nvSpPr>
        <p:spPr>
          <a:xfrm>
            <a:off x="9848088" y="1965960"/>
            <a:ext cx="1874400" cy="24231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270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f4bd47f1b_2_17"/>
          <p:cNvSpPr/>
          <p:nvPr/>
        </p:nvSpPr>
        <p:spPr>
          <a:xfrm>
            <a:off x="9994392" y="2148840"/>
            <a:ext cx="158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f4bd47f1b_2_17"/>
          <p:cNvSpPr/>
          <p:nvPr/>
        </p:nvSpPr>
        <p:spPr>
          <a:xfrm>
            <a:off x="10012680" y="2770632"/>
            <a:ext cx="155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600"/>
              <a:buFont typeface="Arial"/>
              <a:buNone/>
            </a:pPr>
            <a:r>
              <a:rPr b="1" lang="en-US">
                <a:solidFill>
                  <a:srgbClr val="2F3131"/>
                </a:solidFill>
              </a:rPr>
              <a:t>Age &amp; Tenure rendah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f4bd47f1b_2_17"/>
          <p:cNvSpPr/>
          <p:nvPr/>
        </p:nvSpPr>
        <p:spPr>
          <a:xfrm>
            <a:off x="9939600" y="3502425"/>
            <a:ext cx="16914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Karyawan resign cenderung lebih muda dan memiliki masa kerja lebih pendek. Median usia resign </a:t>
            </a:r>
            <a:r>
              <a:rPr b="1" lang="en-US" sz="900">
                <a:solidFill>
                  <a:schemeClr val="dk1"/>
                </a:solidFill>
              </a:rPr>
              <a:t>32 tahun</a:t>
            </a:r>
            <a:r>
              <a:rPr lang="en-US" sz="900">
                <a:solidFill>
                  <a:schemeClr val="dk1"/>
                </a:solidFill>
              </a:rPr>
              <a:t> vs </a:t>
            </a:r>
            <a:r>
              <a:rPr b="1" lang="en-US" sz="900">
                <a:solidFill>
                  <a:schemeClr val="dk1"/>
                </a:solidFill>
              </a:rPr>
              <a:t>36 tahun</a:t>
            </a:r>
            <a:r>
              <a:rPr lang="en-US" sz="900">
                <a:solidFill>
                  <a:schemeClr val="dk1"/>
                </a:solidFill>
              </a:rPr>
              <a:t>, dan median YearsAtCompany </a:t>
            </a:r>
            <a:r>
              <a:rPr b="1" lang="en-US" sz="900">
                <a:solidFill>
                  <a:schemeClr val="dk1"/>
                </a:solidFill>
              </a:rPr>
              <a:t>3 tahun</a:t>
            </a:r>
            <a:r>
              <a:rPr lang="en-US" sz="900">
                <a:solidFill>
                  <a:schemeClr val="dk1"/>
                </a:solidFill>
              </a:rPr>
              <a:t> vs </a:t>
            </a:r>
            <a:r>
              <a:rPr b="1" lang="en-US" sz="900">
                <a:solidFill>
                  <a:schemeClr val="dk1"/>
                </a:solidFill>
              </a:rPr>
              <a:t>6 tahun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t/>
            </a:r>
            <a:endParaRPr sz="900">
              <a:solidFill>
                <a:srgbClr val="66737A"/>
              </a:solidFill>
            </a:endParaRPr>
          </a:p>
        </p:txBody>
      </p:sp>
      <p:cxnSp>
        <p:nvCxnSpPr>
          <p:cNvPr id="292" name="Google Shape;292;g3ef4bd47f1b_2_17"/>
          <p:cNvCxnSpPr/>
          <p:nvPr/>
        </p:nvCxnSpPr>
        <p:spPr>
          <a:xfrm>
            <a:off x="1508760" y="5074920"/>
            <a:ext cx="9235500" cy="0"/>
          </a:xfrm>
          <a:prstGeom prst="straightConnector1">
            <a:avLst/>
          </a:prstGeom>
          <a:noFill/>
          <a:ln cap="flat" cmpd="sng" w="27925">
            <a:solidFill>
              <a:srgbClr val="75A9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g3ef4bd47f1b_2_17"/>
          <p:cNvSpPr/>
          <p:nvPr/>
        </p:nvSpPr>
        <p:spPr>
          <a:xfrm>
            <a:off x="1051560" y="55321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f4bd47f1b_2_17"/>
          <p:cNvSpPr/>
          <p:nvPr/>
        </p:nvSpPr>
        <p:spPr>
          <a:xfrm>
            <a:off x="502920" y="6473952"/>
            <a:ext cx="2377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f4bd47f1b_2_17"/>
          <p:cNvSpPr/>
          <p:nvPr/>
        </p:nvSpPr>
        <p:spPr>
          <a:xfrm>
            <a:off x="9509760" y="6473952"/>
            <a:ext cx="214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305" y="-233289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58368" y="1508760"/>
            <a:ext cx="6492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Preparation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617337" y="3168396"/>
            <a:ext cx="4846320" cy="384048"/>
          </a:xfrm>
          <a:prstGeom prst="rect">
            <a:avLst/>
          </a:prstGeom>
          <a:solidFill>
            <a:srgbClr val="75A9C1">
              <a:alpha val="0"/>
            </a:srgbClr>
          </a:solidFill>
          <a:ln cap="flat" cmpd="sng" w="1905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763641" y="324154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387"/>
              <a:buFont typeface="Arial"/>
              <a:buNone/>
            </a:pPr>
            <a:r>
              <a:rPr lang="en-US" sz="1388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Selection, Engineering &amp; Transformation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658368" y="5897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Drop columns with no predictive signal; keep potential behavioral and compensation drivers.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feature_selection.png" id="316" name="Google Shape;3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628" y="1353312"/>
            <a:ext cx="9959984" cy="457200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317" name="Google Shape;317;p22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New features are created to capture business context beyond raw columns.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feature_engineering.png" id="327" name="Google Shape;3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90325"/>
            <a:ext cx="10835640" cy="359155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328" name="Google Shape;328;p23"/>
          <p:cNvSpPr/>
          <p:nvPr/>
        </p:nvSpPr>
        <p:spPr>
          <a:xfrm>
            <a:off x="1051560" y="5285232"/>
            <a:ext cx="10012680" cy="594360"/>
          </a:xfrm>
          <a:prstGeom prst="roundRect">
            <a:avLst>
              <a:gd fmla="val 18462" name="adj"/>
            </a:avLst>
          </a:prstGeom>
          <a:solidFill>
            <a:srgbClr val="EAF3F6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1325880" y="5468112"/>
            <a:ext cx="9464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Important: income_vs_peers is calculated from training data only to reduce leakage risk.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f4bd47f1b_2_82"/>
          <p:cNvSpPr/>
          <p:nvPr/>
        </p:nvSpPr>
        <p:spPr>
          <a:xfrm>
            <a:off x="1389900" y="2304325"/>
            <a:ext cx="5376600" cy="5943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Median lebih robust terhadap outlier dibanding mean.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Meskipun dataset tidak memiliki missing value, langkah ini tetap disiapkan agar pipeline modeling lebih aman dan konsisten.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8" name="Google Shape;338;g3ef4bd47f1b_2_82"/>
          <p:cNvSpPr/>
          <p:nvPr/>
        </p:nvSpPr>
        <p:spPr>
          <a:xfrm>
            <a:off x="741000" y="370385"/>
            <a:ext cx="7315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1F0E7"/>
                </a:solidFill>
              </a:rPr>
              <a:t>Data Transformation</a:t>
            </a:r>
            <a:endParaRPr b="1" sz="4200">
              <a:solidFill>
                <a:srgbClr val="F1F0E7"/>
              </a:solidFill>
            </a:endParaRPr>
          </a:p>
        </p:txBody>
      </p:sp>
      <p:sp>
        <p:nvSpPr>
          <p:cNvPr id="339" name="Google Shape;339;g3ef4bd47f1b_2_82"/>
          <p:cNvSpPr/>
          <p:nvPr/>
        </p:nvSpPr>
        <p:spPr>
          <a:xfrm>
            <a:off x="685800" y="1865376"/>
            <a:ext cx="438900" cy="438900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ef4bd47f1b_2_82"/>
          <p:cNvSpPr/>
          <p:nvPr/>
        </p:nvSpPr>
        <p:spPr>
          <a:xfrm>
            <a:off x="685800" y="1961388"/>
            <a:ext cx="43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f4bd47f1b_2_82"/>
          <p:cNvSpPr/>
          <p:nvPr/>
        </p:nvSpPr>
        <p:spPr>
          <a:xfrm>
            <a:off x="1234440" y="1892808"/>
            <a:ext cx="5532000" cy="384000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ef4bd47f1b_2_82"/>
          <p:cNvSpPr/>
          <p:nvPr/>
        </p:nvSpPr>
        <p:spPr>
          <a:xfrm>
            <a:off x="1389900" y="1801387"/>
            <a:ext cx="5120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Numerical → Median Imputer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g3ef4bd47f1b_2_82"/>
          <p:cNvSpPr/>
          <p:nvPr/>
        </p:nvSpPr>
        <p:spPr>
          <a:xfrm>
            <a:off x="685800" y="3108960"/>
            <a:ext cx="438900" cy="438900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f4bd47f1b_2_82"/>
          <p:cNvSpPr/>
          <p:nvPr/>
        </p:nvSpPr>
        <p:spPr>
          <a:xfrm>
            <a:off x="685800" y="3204972"/>
            <a:ext cx="43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f4bd47f1b_2_82"/>
          <p:cNvSpPr/>
          <p:nvPr/>
        </p:nvSpPr>
        <p:spPr>
          <a:xfrm>
            <a:off x="1234440" y="3136392"/>
            <a:ext cx="5532000" cy="384000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f4bd47f1b_2_82"/>
          <p:cNvSpPr/>
          <p:nvPr/>
        </p:nvSpPr>
        <p:spPr>
          <a:xfrm>
            <a:off x="1389888" y="3232404"/>
            <a:ext cx="5120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</a:rPr>
              <a:t>Numerical → Scaling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f4bd47f1b_2_82"/>
          <p:cNvSpPr/>
          <p:nvPr/>
        </p:nvSpPr>
        <p:spPr>
          <a:xfrm>
            <a:off x="685800" y="3826764"/>
            <a:ext cx="43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f4bd47f1b_2_82"/>
          <p:cNvSpPr/>
          <p:nvPr/>
        </p:nvSpPr>
        <p:spPr>
          <a:xfrm>
            <a:off x="685800" y="4667044"/>
            <a:ext cx="438900" cy="438900"/>
          </a:xfrm>
          <a:prstGeom prst="ellipse">
            <a:avLst/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f4bd47f1b_2_82"/>
          <p:cNvSpPr/>
          <p:nvPr/>
        </p:nvSpPr>
        <p:spPr>
          <a:xfrm>
            <a:off x="685800" y="4804156"/>
            <a:ext cx="43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f4bd47f1b_2_82"/>
          <p:cNvSpPr/>
          <p:nvPr/>
        </p:nvSpPr>
        <p:spPr>
          <a:xfrm>
            <a:off x="1234440" y="4697214"/>
            <a:ext cx="5532000" cy="384000"/>
          </a:xfrm>
          <a:prstGeom prst="roundRect">
            <a:avLst>
              <a:gd fmla="val 33333" name="adj"/>
            </a:avLst>
          </a:prstGeom>
          <a:solidFill>
            <a:srgbClr val="F1F0E7"/>
          </a:solidFill>
          <a:ln cap="flat" cmpd="sng" w="12700">
            <a:solidFill>
              <a:srgbClr val="F1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ef4bd47f1b_2_82"/>
          <p:cNvSpPr/>
          <p:nvPr/>
        </p:nvSpPr>
        <p:spPr>
          <a:xfrm>
            <a:off x="1389888" y="4813288"/>
            <a:ext cx="5120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F3131"/>
                </a:solidFill>
              </a:rPr>
              <a:t>Categorical → One Hot Encoding</a:t>
            </a:r>
            <a:endParaRPr b="1" sz="1350">
              <a:solidFill>
                <a:srgbClr val="2F3131"/>
              </a:solidFill>
            </a:endParaRPr>
          </a:p>
        </p:txBody>
      </p:sp>
      <p:sp>
        <p:nvSpPr>
          <p:cNvPr id="352" name="Google Shape;352;g3ef4bd47f1b_2_82"/>
          <p:cNvSpPr/>
          <p:nvPr/>
        </p:nvSpPr>
        <p:spPr>
          <a:xfrm>
            <a:off x="1389888" y="5097780"/>
            <a:ext cx="5120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f4bd47f1b_2_82"/>
          <p:cNvSpPr/>
          <p:nvPr/>
        </p:nvSpPr>
        <p:spPr>
          <a:xfrm>
            <a:off x="502920" y="6473952"/>
            <a:ext cx="2377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f4bd47f1b_2_82"/>
          <p:cNvSpPr/>
          <p:nvPr/>
        </p:nvSpPr>
        <p:spPr>
          <a:xfrm>
            <a:off x="9509760" y="6473952"/>
            <a:ext cx="214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f4bd47f1b_2_82"/>
          <p:cNvSpPr txBox="1"/>
          <p:nvPr/>
        </p:nvSpPr>
        <p:spPr>
          <a:xfrm>
            <a:off x="741000" y="874275"/>
            <a:ext cx="9156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AF3F6"/>
                </a:solidFill>
              </a:rPr>
              <a:t>This directly addresses scaling, encoding, and imputation before modeling.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356" name="Google Shape;356;g3ef4bd47f1b_2_82"/>
          <p:cNvSpPr txBox="1"/>
          <p:nvPr/>
        </p:nvSpPr>
        <p:spPr>
          <a:xfrm>
            <a:off x="1389900" y="3542413"/>
            <a:ext cx="53766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Scaling menyamakan skala antar fitur numerik.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Penting untuk model berbasis jarak atau koefisien seperti </a:t>
            </a:r>
            <a:r>
              <a:rPr b="1" lang="en-US" sz="1100">
                <a:solidFill>
                  <a:schemeClr val="lt1"/>
                </a:solidFill>
              </a:rPr>
              <a:t>Logistic Regression, KNN,</a:t>
            </a:r>
            <a:r>
              <a:rPr lang="en-US" sz="1100">
                <a:solidFill>
                  <a:schemeClr val="lt1"/>
                </a:solidFill>
              </a:rPr>
              <a:t> dan </a:t>
            </a:r>
            <a:r>
              <a:rPr b="1" lang="en-US" sz="1100">
                <a:solidFill>
                  <a:schemeClr val="lt1"/>
                </a:solidFill>
              </a:rPr>
              <a:t>SVM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Untuk model tree-based, scaling tidak wajib, tetapi tetap bermanfaat dalam preprocessing.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57" name="Google Shape;357;g3ef4bd47f1b_2_82"/>
          <p:cNvSpPr txBox="1"/>
          <p:nvPr/>
        </p:nvSpPr>
        <p:spPr>
          <a:xfrm>
            <a:off x="1301975" y="5103225"/>
            <a:ext cx="5256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Model machine learning tidak dapat langsung memproses data teks/kategori.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One Hot Encoding mengubah kategori menjadi representasi numerik </a:t>
            </a:r>
            <a:r>
              <a:rPr b="1" lang="en-US" sz="1100">
                <a:solidFill>
                  <a:schemeClr val="lt1"/>
                </a:solidFill>
              </a:rPr>
              <a:t>0/1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descr="/mnt/data/assets_stage1/toc_people.png" id="358" name="Google Shape;358;g3ef4bd47f1b_2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560" y="2444788"/>
            <a:ext cx="3852766" cy="236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Train-Test Split &amp; Final Output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Final transformed dataset is ready for Stage 2 model development.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tage1_final_assets/split_bar.png" id="367" name="Google Shape;3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50128"/>
            <a:ext cx="4434840" cy="2212587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pic>
        <p:nvPicPr>
          <p:cNvPr descr="/mnt/data/stage1_final_assets/final_output.png" id="368" name="Google Shape;3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524" y="1467069"/>
            <a:ext cx="5532120" cy="2067630"/>
          </a:xfrm>
          <a:prstGeom prst="rect">
            <a:avLst/>
          </a:prstGeom>
          <a:noFill/>
          <a:ln>
            <a:noFill/>
          </a:ln>
          <a:effectLst>
            <a:outerShdw blurRad="25400" rotWithShape="0" algn="bl" dir="2700000" dist="50800">
              <a:srgbClr val="999999">
                <a:alpha val="20000"/>
              </a:srgbClr>
            </a:outerShdw>
          </a:effectLst>
        </p:spPr>
      </p:pic>
      <p:sp>
        <p:nvSpPr>
          <p:cNvPr id="369" name="Google Shape;369;p25"/>
          <p:cNvSpPr/>
          <p:nvPr/>
        </p:nvSpPr>
        <p:spPr>
          <a:xfrm>
            <a:off x="1051560" y="4434840"/>
            <a:ext cx="9921240" cy="1188720"/>
          </a:xfrm>
          <a:prstGeom prst="roundRect">
            <a:avLst>
              <a:gd fmla="val 9231" name="adj"/>
            </a:avLst>
          </a:prstGeom>
          <a:solidFill>
            <a:srgbClr val="EAF3F6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1417320" y="459028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Final Output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3383280" y="4645152"/>
            <a:ext cx="7178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The final matrix has 54 transformed features in both train and test sets. The train/test split uses stratify to preserve the attrition ratio.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Completeness Check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What has been completed before moving into modeling.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914400" y="1600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1170432" y="1792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1216152" y="1837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1691640" y="1764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Final Dataset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1691640" y="2039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Cleaned and selected features are prepared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6217920" y="1600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6473952" y="1792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6519672" y="1837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6995160" y="1764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6995160" y="2039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Univariate, bivariate, and numerical patterns analyzed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914400" y="2743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1170432" y="2935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1216152" y="2980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1691640" y="2907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Top Drivers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1691640" y="3182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Top 5 potential attrition drivers summarized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6217920" y="2743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6473952" y="2935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6519672" y="2980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6995160" y="2907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6995160" y="3182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Identifier and constant features removed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914400" y="3886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1170432" y="4078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1216152" y="4123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1691640" y="4050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1691640" y="4325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3 business-driven features added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6217920" y="3886200"/>
            <a:ext cx="470916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6473952" y="4078224"/>
            <a:ext cx="347472" cy="347472"/>
          </a:xfrm>
          <a:prstGeom prst="ellipse">
            <a:avLst/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6519672" y="412394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6995160" y="4050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Transformation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6995160" y="432511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Imputation, scaling, and encoding pipeline defined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1097280" y="5349240"/>
            <a:ext cx="9966960" cy="594360"/>
          </a:xfrm>
          <a:prstGeom prst="roundRect">
            <a:avLst>
              <a:gd fmla="val 18462" name="adj"/>
            </a:avLst>
          </a:prstGeom>
          <a:solidFill>
            <a:srgbClr val="75A9C1"/>
          </a:solidFill>
          <a:ln cap="flat" cmpd="sng" w="12700">
            <a:solidFill>
              <a:srgbClr val="75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1325880" y="5532120"/>
            <a:ext cx="9464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Stage 1 is complete and the dataset is ready for baseline modeling in Stage 2.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A9C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5A9C1"/>
          </a:solidFill>
          <a:ln cap="flat" cmpd="sng" w="12700">
            <a:solidFill>
              <a:srgbClr val="75A9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594360" y="47548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7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1F0E7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621792" y="10424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6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6"/>
                </a:solidFill>
                <a:latin typeface="Arial"/>
                <a:ea typeface="Arial"/>
                <a:cs typeface="Arial"/>
                <a:sym typeface="Arial"/>
              </a:rPr>
              <a:t>Concise summary for the end of Stage 1.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1051560" y="1417320"/>
            <a:ext cx="10058400" cy="566928"/>
          </a:xfrm>
          <a:prstGeom prst="roundRect">
            <a:avLst>
              <a:gd fmla="val 19355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1261872" y="15544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1783080" y="1623061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30"/>
              <a:buFont typeface="Arial"/>
              <a:buNone/>
            </a:pPr>
            <a:r>
              <a:rPr b="1" lang="en-US" sz="143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Data is clean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4800600" y="1527048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None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No missing values or duplicates were found in the raw dataset.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1051560" y="2258568"/>
            <a:ext cx="10058400" cy="566928"/>
          </a:xfrm>
          <a:prstGeom prst="roundRect">
            <a:avLst>
              <a:gd fmla="val 19355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1261872" y="23957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1783080" y="2450596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30"/>
              <a:buFont typeface="Arial"/>
              <a:buNone/>
            </a:pPr>
            <a:r>
              <a:rPr b="1" lang="en-US" sz="143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Attrition is imbalanced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4800600" y="2368296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None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Only 16.12% of employees are Attrition = Yes.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1051560" y="3099816"/>
            <a:ext cx="10058400" cy="566928"/>
          </a:xfrm>
          <a:prstGeom prst="roundRect">
            <a:avLst>
              <a:gd fmla="val 19355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1261872" y="323697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1783080" y="320954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30"/>
              <a:buFont typeface="Arial"/>
              <a:buNone/>
            </a:pPr>
            <a:r>
              <a:rPr b="1" lang="en-US" sz="143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Top potential drivers are clear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4800600" y="3209544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None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Overtime, involvement, work-life balance, job level, and stock option require focus.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1051560" y="3941064"/>
            <a:ext cx="10058400" cy="566928"/>
          </a:xfrm>
          <a:prstGeom prst="roundRect">
            <a:avLst>
              <a:gd fmla="val 19355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1261872" y="407822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1783080" y="405079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30"/>
              <a:buFont typeface="Arial"/>
              <a:buNone/>
            </a:pPr>
            <a:r>
              <a:rPr b="1" lang="en-US" sz="143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Transformation is ready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4800600" y="405079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None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Imputation, scaling, and encoding have been defined in a pipeline.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1051560" y="4782312"/>
            <a:ext cx="10058400" cy="566928"/>
          </a:xfrm>
          <a:prstGeom prst="roundRect">
            <a:avLst>
              <a:gd fmla="val 19355" name="adj"/>
            </a:avLst>
          </a:prstGeom>
          <a:solidFill>
            <a:srgbClr val="F1F0E7"/>
          </a:solidFill>
          <a:ln cap="flat" cmpd="sng" w="13950">
            <a:solidFill>
              <a:srgbClr val="B6C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1261872" y="491947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1783080" y="4892040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30"/>
              <a:buFont typeface="Arial"/>
              <a:buNone/>
            </a:pPr>
            <a:r>
              <a:rPr b="1" lang="en-US" sz="143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Next step: modeling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4800600" y="4892040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1160"/>
              <a:buFont typeface="Arial"/>
              <a:buNone/>
            </a:pPr>
            <a:r>
              <a:rPr lang="en-US" sz="116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2 should test baseline models, tune threshold, and evaluate recall/F1.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7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7"/>
          </a:solidFill>
          <a:ln cap="flat" cmpd="sng" w="12700">
            <a:solidFill>
              <a:srgbClr val="F1F0E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Next Steps for Stage 2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621792" y="95097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Move from prepared data to modeling and evaluation.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822960" y="1828800"/>
            <a:ext cx="1874520" cy="297180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1536192" y="2075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987552" y="2788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Baseline models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987552" y="3246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Logistic Regression, Decision Tree, Random Forest, XGBoost, KNN, etc.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3063240" y="1828800"/>
            <a:ext cx="1874520" cy="297180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3776472" y="2075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3227832" y="2788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Handle imbalance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3227832" y="3246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Compare baseline vs class_weight / SMOTE on train only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5303520" y="1828800"/>
            <a:ext cx="1874520" cy="297180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6016752" y="2075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5468112" y="2788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5468112" y="3246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Recall, F1-score, ROC-AUC, PR-AUC, confusion matrix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7543800" y="1828800"/>
            <a:ext cx="1874520" cy="297180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8257032" y="2075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7708392" y="2788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Explainability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7708392" y="3246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Feature importance and SHAP/LIME to confirm key drivers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9784080" y="1828800"/>
            <a:ext cx="1874520" cy="297180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3950">
            <a:solidFill>
              <a:srgbClr val="D5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10497312" y="2075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9C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5A9C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9948672" y="2788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16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164A"/>
                </a:solidFill>
                <a:latin typeface="Arial"/>
                <a:ea typeface="Arial"/>
                <a:cs typeface="Arial"/>
                <a:sym typeface="Arial"/>
              </a:rPr>
              <a:t>Thresholding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9948672" y="32461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37A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66737A"/>
                </a:solidFill>
                <a:latin typeface="Arial"/>
                <a:ea typeface="Arial"/>
                <a:cs typeface="Arial"/>
                <a:sym typeface="Arial"/>
              </a:rPr>
              <a:t>Select risk threshold based on business priority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PBHI Solutions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9509760" y="647395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13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F3131"/>
                </a:solidFill>
                <a:latin typeface="Arial"/>
                <a:ea typeface="Arial"/>
                <a:cs typeface="Arial"/>
                <a:sym typeface="Arial"/>
              </a:rPr>
              <a:t>Stage 1 Report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renders/page-14.png" id="481" name="Google Shape;4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2026-06-25T08:34:19Z</dcterms:created>
  <dc:creator>PBHI Solutions</dc:creator>
</cp:coreProperties>
</file>